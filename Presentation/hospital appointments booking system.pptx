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4056" r:id="rId1"/>
  </p:sldMasterIdLst>
  <p:sldIdLst>
    <p:sldId id="256" r:id="rId2"/>
    <p:sldId id="257" r:id="rId3"/>
    <p:sldId id="258" r:id="rId4"/>
    <p:sldId id="259" r:id="rId5"/>
    <p:sldId id="265" r:id="rId6"/>
    <p:sldId id="261" r:id="rId7"/>
    <p:sldId id="262" r:id="rId8"/>
    <p:sldId id="266" r:id="rId9"/>
    <p:sldId id="267" r:id="rId10"/>
    <p:sldId id="268" r:id="rId11"/>
    <p:sldId id="269" r:id="rId12"/>
    <p:sldId id="270" r:id="rId13"/>
    <p:sldId id="264"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tableStyles" Target="tableStyle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theme" Target="theme/theme1.xml" /><Relationship Id="rId2" Type="http://schemas.openxmlformats.org/officeDocument/2006/relationships/slide" Target="slides/slide1.xml" /><Relationship Id="rId16" Type="http://schemas.openxmlformats.org/officeDocument/2006/relationships/viewProps" Target="view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presProps" Target="presProps.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5/1/2026</a:t>
            </a:fld>
            <a:endParaRPr lang="en-US" dirty="0"/>
          </a:p>
        </p:txBody>
      </p:sp>
      <p:sp>
        <p:nvSpPr>
          <p:cNvPr id="5" name="Footer Placeholder 4"/>
          <p:cNvSpPr>
            <a:spLocks noGrp="1"/>
          </p:cNvSpPr>
          <p:nvPr>
            <p:ph type="ftr" sz="quarter" idx="11"/>
          </p:nvPr>
        </p:nvSpPr>
        <p:spPr>
          <a:xfrm>
            <a:off x="2416500" y="329307"/>
            <a:ext cx="4973915"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6D22F896-40B5-4ADD-8801-0D06FADFA095}" type="slidenum">
              <a:rPr lang="en-US" dirty="0"/>
              <a:t>‹#›</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42047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987958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5/1/2026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029177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5/1/2026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350285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5/1/2026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760567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5/1/2026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701754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5/1/2026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extLst>
      <p:ext uri="{BB962C8B-B14F-4D97-AF65-F5344CB8AC3E}">
        <p14:creationId xmlns:p14="http://schemas.microsoft.com/office/powerpoint/2010/main" val="21540662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5/1/2026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71724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8A87A34-81AB-432B-8DAE-1953F412C126}" type="datetimeFigureOut">
              <a:rPr lang="en-US" dirty="0"/>
              <a:pPr/>
              <a:t>5/1/2026</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424626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43570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5/1/2026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010658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image" Target="../media/image1.jpg"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5/1/2026</a:t>
            </a:fld>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dirty="0"/>
              <a:pPr/>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74819125"/>
      </p:ext>
    </p:extLst>
  </p:cSld>
  <p:clrMap bg1="lt1" tx1="dk1" bg2="lt2" tx2="dk2" accent1="accent1" accent2="accent2" accent3="accent3" accent4="accent4" accent5="accent5" accent6="accent6" hlink="hlink" folHlink="folHlink"/>
  <p:sldLayoutIdLst>
    <p:sldLayoutId id="2147484057" r:id="rId1"/>
    <p:sldLayoutId id="2147484058" r:id="rId2"/>
    <p:sldLayoutId id="2147484059" r:id="rId3"/>
    <p:sldLayoutId id="2147484060" r:id="rId4"/>
    <p:sldLayoutId id="2147484061" r:id="rId5"/>
    <p:sldLayoutId id="2147484062" r:id="rId6"/>
    <p:sldLayoutId id="2147484063" r:id="rId7"/>
    <p:sldLayoutId id="2147484064" r:id="rId8"/>
    <p:sldLayoutId id="2147484065" r:id="rId9"/>
    <p:sldLayoutId id="2147484066" r:id="rId10"/>
    <p:sldLayoutId id="2147484067"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DEC3B-75E6-1E75-64CB-5510ED9C2BCC}"/>
              </a:ext>
            </a:extLst>
          </p:cNvPr>
          <p:cNvSpPr>
            <a:spLocks noGrp="1"/>
          </p:cNvSpPr>
          <p:nvPr>
            <p:ph type="ctrTitle"/>
          </p:nvPr>
        </p:nvSpPr>
        <p:spPr>
          <a:xfrm>
            <a:off x="1137522" y="282170"/>
            <a:ext cx="10210979" cy="1592866"/>
          </a:xfrm>
          <a:noFill/>
          <a:ln>
            <a:noFill/>
          </a:ln>
        </p:spPr>
        <p:style>
          <a:lnRef idx="2">
            <a:schemeClr val="dk1">
              <a:shade val="15000"/>
            </a:schemeClr>
          </a:lnRef>
          <a:fillRef idx="1">
            <a:schemeClr val="dk1"/>
          </a:fillRef>
          <a:effectRef idx="0">
            <a:schemeClr val="dk1"/>
          </a:effectRef>
          <a:fontRef idx="minor">
            <a:schemeClr val="lt1"/>
          </a:fontRef>
        </p:style>
        <p:txBody>
          <a:bodyPr anchor="t">
            <a:noAutofit/>
          </a:bodyPr>
          <a:lstStyle/>
          <a:p>
            <a:pPr algn="ctr"/>
            <a:r>
              <a:rPr lang="en-IN" sz="3200" dirty="0">
                <a:solidFill>
                  <a:schemeClr val="accent1"/>
                </a:solidFill>
              </a:rPr>
              <a:t>Hospital appointments &amp; Wait time </a:t>
            </a:r>
            <a:br>
              <a:rPr lang="en-IN" sz="3200" dirty="0">
                <a:solidFill>
                  <a:schemeClr val="accent1"/>
                </a:solidFill>
              </a:rPr>
            </a:br>
            <a:r>
              <a:rPr lang="en-IN" sz="3200" dirty="0">
                <a:solidFill>
                  <a:schemeClr val="accent1"/>
                </a:solidFill>
              </a:rPr>
              <a:t>prediction system </a:t>
            </a:r>
            <a:endParaRPr lang="en-US" sz="3200" dirty="0">
              <a:solidFill>
                <a:schemeClr val="accent1"/>
              </a:solidFill>
            </a:endParaRPr>
          </a:p>
        </p:txBody>
      </p:sp>
      <p:pic>
        <p:nvPicPr>
          <p:cNvPr id="5" name="Picture 4" descr="AKS University - Wikipedia">
            <a:extLst>
              <a:ext uri="{FF2B5EF4-FFF2-40B4-BE49-F238E27FC236}">
                <a16:creationId xmlns:a16="http://schemas.microsoft.com/office/drawing/2014/main" id="{3E7916D5-F237-FB8C-3C40-5C2AA8CE03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44881" y="1406233"/>
            <a:ext cx="1196262" cy="119626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F08A403-B12B-735C-3706-FE3608C38B41}"/>
              </a:ext>
            </a:extLst>
          </p:cNvPr>
          <p:cNvSpPr txBox="1"/>
          <p:nvPr/>
        </p:nvSpPr>
        <p:spPr>
          <a:xfrm>
            <a:off x="7868974" y="2520712"/>
            <a:ext cx="1828800" cy="369332"/>
          </a:xfrm>
          <a:prstGeom prst="rect">
            <a:avLst/>
          </a:prstGeom>
          <a:noFill/>
        </p:spPr>
        <p:txBody>
          <a:bodyPr wrap="square" rtlCol="0">
            <a:spAutoFit/>
          </a:bodyPr>
          <a:lstStyle/>
          <a:p>
            <a:pPr algn="l"/>
            <a:endParaRPr lang="en-US">
              <a:solidFill>
                <a:schemeClr val="accent2">
                  <a:lumMod val="40000"/>
                  <a:lumOff val="60000"/>
                </a:schemeClr>
              </a:solidFill>
            </a:endParaRPr>
          </a:p>
        </p:txBody>
      </p:sp>
      <p:sp>
        <p:nvSpPr>
          <p:cNvPr id="7" name="TextBox 6">
            <a:extLst>
              <a:ext uri="{FF2B5EF4-FFF2-40B4-BE49-F238E27FC236}">
                <a16:creationId xmlns:a16="http://schemas.microsoft.com/office/drawing/2014/main" id="{C919EA9D-23F0-42DD-987E-E5136FC825AB}"/>
              </a:ext>
            </a:extLst>
          </p:cNvPr>
          <p:cNvSpPr txBox="1"/>
          <p:nvPr/>
        </p:nvSpPr>
        <p:spPr>
          <a:xfrm>
            <a:off x="2375595" y="2690336"/>
            <a:ext cx="8637072" cy="1477328"/>
          </a:xfrm>
          <a:prstGeom prst="rect">
            <a:avLst/>
          </a:prstGeom>
          <a:noFill/>
        </p:spPr>
        <p:txBody>
          <a:bodyPr wrap="square">
            <a:spAutoFit/>
          </a:bodyPr>
          <a:lstStyle/>
          <a:p>
            <a:r>
              <a:rPr lang="en-US" dirty="0">
                <a:solidFill>
                  <a:schemeClr val="accent6">
                    <a:lumMod val="75000"/>
                  </a:schemeClr>
                </a:solidFill>
                <a:latin typeface="Sitka Small Semibold" pitchFamily="2" charset="0"/>
                <a:cs typeface="Times New Roman" panose="02020603050405020304" pitchFamily="18" charset="0"/>
              </a:rPr>
              <a:t>         </a:t>
            </a:r>
            <a:r>
              <a:rPr lang="en-US" dirty="0">
                <a:solidFill>
                  <a:srgbClr val="683104"/>
                </a:solidFill>
                <a:latin typeface="Sitka Small Semibold" pitchFamily="2" charset="0"/>
                <a:cs typeface="Times New Roman" panose="02020603050405020304" pitchFamily="18" charset="0"/>
              </a:rPr>
              <a:t>DEPARTMENT OF COMPUTER SCIENCE AND ENGINEERING</a:t>
            </a:r>
          </a:p>
          <a:p>
            <a:r>
              <a:rPr lang="en-US" dirty="0">
                <a:solidFill>
                  <a:srgbClr val="683104"/>
                </a:solidFill>
                <a:latin typeface="Sitka Small Semibold" pitchFamily="2" charset="0"/>
                <a:cs typeface="Times New Roman" panose="02020603050405020304" pitchFamily="18" charset="0"/>
              </a:rPr>
              <a:t>                                AKS UNIVERSITY, SATNA (MP)</a:t>
            </a:r>
            <a:endParaRPr lang="en-IN" dirty="0">
              <a:solidFill>
                <a:srgbClr val="683104"/>
              </a:solidFill>
              <a:latin typeface="Sitka Small Semibold" pitchFamily="2" charset="0"/>
              <a:cs typeface="Times New Roman" panose="02020603050405020304" pitchFamily="18" charset="0"/>
            </a:endParaRPr>
          </a:p>
          <a:p>
            <a:r>
              <a:rPr lang="en-IN" dirty="0">
                <a:solidFill>
                  <a:srgbClr val="683104"/>
                </a:solidFill>
                <a:latin typeface="Sitka Small Semibold" pitchFamily="2" charset="0"/>
                <a:cs typeface="Times New Roman" panose="02020603050405020304" pitchFamily="18" charset="0"/>
              </a:rPr>
              <a:t>                                    </a:t>
            </a:r>
            <a:r>
              <a:rPr lang="en-US" dirty="0">
                <a:solidFill>
                  <a:srgbClr val="C00000"/>
                </a:solidFill>
                <a:latin typeface="Sitka Small Semibold" pitchFamily="2" charset="0"/>
                <a:cs typeface="Times New Roman" panose="02020603050405020304" pitchFamily="18" charset="0"/>
              </a:rPr>
              <a:t>  </a:t>
            </a:r>
            <a:r>
              <a:rPr lang="en-IN" dirty="0">
                <a:solidFill>
                  <a:srgbClr val="C00000"/>
                </a:solidFill>
                <a:latin typeface="Sitka Small Semibold" pitchFamily="2" charset="0"/>
                <a:cs typeface="Times New Roman" panose="02020603050405020304" pitchFamily="18" charset="0"/>
              </a:rPr>
              <a:t>6</a:t>
            </a:r>
            <a:r>
              <a:rPr lang="en-US" dirty="0">
                <a:solidFill>
                  <a:srgbClr val="C00000"/>
                </a:solidFill>
                <a:latin typeface="Sitka Small Semibold" pitchFamily="2" charset="0"/>
                <a:cs typeface="Times New Roman" panose="02020603050405020304" pitchFamily="18" charset="0"/>
              </a:rPr>
              <a:t> BTECH CSE(AI&amp;DS)</a:t>
            </a:r>
            <a:endParaRPr lang="en-US" dirty="0">
              <a:latin typeface="Sitka Small Semibold" pitchFamily="2" charset="0"/>
              <a:cs typeface="Times New Roman" panose="02020603050405020304" pitchFamily="18" charset="0"/>
            </a:endParaRPr>
          </a:p>
          <a:p>
            <a:r>
              <a:rPr lang="en-US" dirty="0">
                <a:solidFill>
                  <a:srgbClr val="0070C0"/>
                </a:solidFill>
                <a:latin typeface="Sitka Small Semibold" pitchFamily="2" charset="0"/>
                <a:cs typeface="Times New Roman" panose="02020603050405020304" pitchFamily="18" charset="0"/>
              </a:rPr>
              <a:t>                                            Presented by:</a:t>
            </a:r>
          </a:p>
          <a:p>
            <a:r>
              <a:rPr lang="en-US" dirty="0">
                <a:solidFill>
                  <a:srgbClr val="0070C0"/>
                </a:solidFill>
                <a:latin typeface="Sitka Small Semibold" pitchFamily="2" charset="0"/>
                <a:cs typeface="Times New Roman" panose="02020603050405020304" pitchFamily="18" charset="0"/>
              </a:rPr>
              <a:t>                           </a:t>
            </a:r>
            <a:r>
              <a:rPr lang="en-IN" dirty="0" err="1">
                <a:solidFill>
                  <a:srgbClr val="0070C0"/>
                </a:solidFill>
                <a:latin typeface="Sitka Small Semibold" pitchFamily="2" charset="0"/>
                <a:cs typeface="Times New Roman" panose="02020603050405020304" pitchFamily="18" charset="0"/>
              </a:rPr>
              <a:t>Alka</a:t>
            </a:r>
            <a:r>
              <a:rPr lang="en-IN" dirty="0">
                <a:solidFill>
                  <a:srgbClr val="0070C0"/>
                </a:solidFill>
                <a:latin typeface="Sitka Small Semibold" pitchFamily="2" charset="0"/>
                <a:cs typeface="Times New Roman" panose="02020603050405020304" pitchFamily="18" charset="0"/>
              </a:rPr>
              <a:t> Kushwaha-B2355R10195073</a:t>
            </a:r>
          </a:p>
        </p:txBody>
      </p:sp>
      <p:sp>
        <p:nvSpPr>
          <p:cNvPr id="8" name="TextBox 7">
            <a:extLst>
              <a:ext uri="{FF2B5EF4-FFF2-40B4-BE49-F238E27FC236}">
                <a16:creationId xmlns:a16="http://schemas.microsoft.com/office/drawing/2014/main" id="{48E030AF-195A-1206-4E27-29BC30BEA327}"/>
              </a:ext>
            </a:extLst>
          </p:cNvPr>
          <p:cNvSpPr txBox="1"/>
          <p:nvPr/>
        </p:nvSpPr>
        <p:spPr>
          <a:xfrm>
            <a:off x="478560" y="4579068"/>
            <a:ext cx="3560296" cy="1200329"/>
          </a:xfrm>
          <a:prstGeom prst="rect">
            <a:avLst/>
          </a:prstGeom>
          <a:noFill/>
        </p:spPr>
        <p:txBody>
          <a:bodyPr wrap="square">
            <a:spAutoFit/>
          </a:bodyPr>
          <a:lstStyle/>
          <a:p>
            <a:r>
              <a:rPr lang="en-US" dirty="0">
                <a:solidFill>
                  <a:schemeClr val="accent6">
                    <a:lumMod val="75000"/>
                  </a:schemeClr>
                </a:solidFill>
                <a:latin typeface="Sitka Small Semibold" pitchFamily="2" charset="0"/>
                <a:cs typeface="Times New Roman" panose="02020603050405020304" pitchFamily="18" charset="0"/>
              </a:rPr>
              <a:t>APPROVED BY:</a:t>
            </a:r>
          </a:p>
          <a:p>
            <a:r>
              <a:rPr lang="en-US" dirty="0">
                <a:latin typeface="Sitka Small Semibold" pitchFamily="2" charset="0"/>
                <a:cs typeface="Times New Roman" panose="02020603050405020304" pitchFamily="18" charset="0"/>
              </a:rPr>
              <a:t>MR. CHANDRA SHEKHAR GAUTAM(HOD)</a:t>
            </a:r>
          </a:p>
          <a:p>
            <a:r>
              <a:rPr lang="en-US" dirty="0">
                <a:latin typeface="Sitka Small Semibold" pitchFamily="2" charset="0"/>
                <a:cs typeface="Times New Roman" panose="02020603050405020304" pitchFamily="18" charset="0"/>
              </a:rPr>
              <a:t>CS &amp; IT DEPARTMENT           </a:t>
            </a:r>
            <a:r>
              <a:rPr lang="en-US" dirty="0">
                <a:latin typeface="Times New Roman" panose="02020603050405020304" pitchFamily="18" charset="0"/>
                <a:cs typeface="Times New Roman" panose="02020603050405020304" pitchFamily="18" charset="0"/>
              </a:rPr>
              <a:t>          </a:t>
            </a:r>
          </a:p>
        </p:txBody>
      </p:sp>
      <p:sp>
        <p:nvSpPr>
          <p:cNvPr id="6" name="TextBox 5">
            <a:extLst>
              <a:ext uri="{FF2B5EF4-FFF2-40B4-BE49-F238E27FC236}">
                <a16:creationId xmlns:a16="http://schemas.microsoft.com/office/drawing/2014/main" id="{23742B95-40C8-050B-BB72-EE7C58ADB279}"/>
              </a:ext>
            </a:extLst>
          </p:cNvPr>
          <p:cNvSpPr txBox="1"/>
          <p:nvPr/>
        </p:nvSpPr>
        <p:spPr>
          <a:xfrm>
            <a:off x="9046203" y="4579068"/>
            <a:ext cx="4255558" cy="1477328"/>
          </a:xfrm>
          <a:prstGeom prst="rect">
            <a:avLst/>
          </a:prstGeom>
          <a:noFill/>
        </p:spPr>
        <p:txBody>
          <a:bodyPr wrap="square" rtlCol="0">
            <a:spAutoFit/>
          </a:bodyPr>
          <a:lstStyle/>
          <a:p>
            <a:r>
              <a:rPr lang="en-US" dirty="0">
                <a:solidFill>
                  <a:schemeClr val="accent6">
                    <a:lumMod val="75000"/>
                  </a:schemeClr>
                </a:solidFill>
                <a:latin typeface="Sitka Small Semibold" pitchFamily="2" charset="0"/>
                <a:cs typeface="Times New Roman" panose="02020603050405020304" pitchFamily="18" charset="0"/>
              </a:rPr>
              <a:t>GUIDED BY:</a:t>
            </a:r>
          </a:p>
          <a:p>
            <a:r>
              <a:rPr lang="en-US" dirty="0">
                <a:latin typeface="Sitka Small Semibold" pitchFamily="2" charset="0"/>
                <a:cs typeface="Times New Roman" panose="02020603050405020304" pitchFamily="18" charset="0"/>
              </a:rPr>
              <a:t>Ms. PRAGYA SRIVASTAVA</a:t>
            </a:r>
          </a:p>
          <a:p>
            <a:r>
              <a:rPr lang="en-US" dirty="0">
                <a:latin typeface="Sitka Small Semibold" pitchFamily="2" charset="0"/>
                <a:cs typeface="Times New Roman" panose="02020603050405020304" pitchFamily="18" charset="0"/>
              </a:rPr>
              <a:t>Assistant professor</a:t>
            </a:r>
          </a:p>
          <a:p>
            <a:r>
              <a:rPr lang="en-US" dirty="0">
                <a:latin typeface="Sitka Small Semibold" pitchFamily="2" charset="0"/>
                <a:cs typeface="Times New Roman" panose="02020603050405020304" pitchFamily="18" charset="0"/>
              </a:rPr>
              <a:t>CS &amp; IT DEPARTMENT</a:t>
            </a:r>
          </a:p>
          <a:p>
            <a:endParaRPr lang="en-IN" dirty="0"/>
          </a:p>
        </p:txBody>
      </p:sp>
    </p:spTree>
    <p:extLst>
      <p:ext uri="{BB962C8B-B14F-4D97-AF65-F5344CB8AC3E}">
        <p14:creationId xmlns:p14="http://schemas.microsoft.com/office/powerpoint/2010/main" val="41441210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5F969-4670-EA12-792F-0C5A235C2335}"/>
              </a:ext>
            </a:extLst>
          </p:cNvPr>
          <p:cNvSpPr>
            <a:spLocks noGrp="1"/>
          </p:cNvSpPr>
          <p:nvPr>
            <p:ph type="title"/>
          </p:nvPr>
        </p:nvSpPr>
        <p:spPr/>
        <p:txBody>
          <a:bodyPr/>
          <a:lstStyle/>
          <a:p>
            <a:r>
              <a:rPr lang="en-IN" dirty="0"/>
              <a:t>Introduction:-</a:t>
            </a:r>
            <a:endParaRPr lang="en-US" dirty="0"/>
          </a:p>
        </p:txBody>
      </p:sp>
      <p:sp>
        <p:nvSpPr>
          <p:cNvPr id="3" name="Content Placeholder 2">
            <a:extLst>
              <a:ext uri="{FF2B5EF4-FFF2-40B4-BE49-F238E27FC236}">
                <a16:creationId xmlns:a16="http://schemas.microsoft.com/office/drawing/2014/main" id="{2F9BE79C-1B78-38E0-C1D6-E80A9214FA6D}"/>
              </a:ext>
            </a:extLst>
          </p:cNvPr>
          <p:cNvSpPr>
            <a:spLocks noGrp="1"/>
          </p:cNvSpPr>
          <p:nvPr>
            <p:ph idx="1"/>
          </p:nvPr>
        </p:nvSpPr>
        <p:spPr/>
        <p:txBody>
          <a:bodyPr>
            <a:normAutofit/>
          </a:bodyPr>
          <a:lstStyle/>
          <a:p>
            <a:r>
              <a:rPr lang="en-IN" dirty="0"/>
              <a:t>Web-based system for managing hospital appointments
Allows patients to book appointments easily
Predicts waiting time using machine learning
Provides better hospital management and efficiency
Reduces patient waiting uncertainty</a:t>
            </a:r>
            <a:endParaRPr lang="en-US" dirty="0"/>
          </a:p>
        </p:txBody>
      </p:sp>
    </p:spTree>
    <p:extLst>
      <p:ext uri="{BB962C8B-B14F-4D97-AF65-F5344CB8AC3E}">
        <p14:creationId xmlns:p14="http://schemas.microsoft.com/office/powerpoint/2010/main" val="4413257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446C8-F9FB-C079-60AF-B07535B3E1AD}"/>
              </a:ext>
            </a:extLst>
          </p:cNvPr>
          <p:cNvSpPr>
            <a:spLocks noGrp="1"/>
          </p:cNvSpPr>
          <p:nvPr>
            <p:ph type="title"/>
          </p:nvPr>
        </p:nvSpPr>
        <p:spPr/>
        <p:txBody>
          <a:bodyPr/>
          <a:lstStyle/>
          <a:p>
            <a:r>
              <a:rPr lang="en-IN" dirty="0"/>
              <a:t>Problem Statement:-</a:t>
            </a:r>
            <a:endParaRPr lang="en-US" dirty="0"/>
          </a:p>
        </p:txBody>
      </p:sp>
      <p:sp>
        <p:nvSpPr>
          <p:cNvPr id="5" name="Content Placeholder 4">
            <a:extLst>
              <a:ext uri="{FF2B5EF4-FFF2-40B4-BE49-F238E27FC236}">
                <a16:creationId xmlns:a16="http://schemas.microsoft.com/office/drawing/2014/main" id="{9F38C78F-AEA0-7E0F-DA59-D203962599D2}"/>
              </a:ext>
            </a:extLst>
          </p:cNvPr>
          <p:cNvSpPr>
            <a:spLocks noGrp="1"/>
          </p:cNvSpPr>
          <p:nvPr>
            <p:ph idx="1"/>
          </p:nvPr>
        </p:nvSpPr>
        <p:spPr/>
        <p:txBody>
          <a:bodyPr/>
          <a:lstStyle/>
          <a:p>
            <a:r>
              <a:rPr lang="en-IN" dirty="0"/>
              <a:t>Patients do not know how long they need to wait
Long queues cause frustration and inefficiency
No proper system to manage appointments digitally
Difficulty in handling emergency and normal cases
Lack of data-driven decision making</a:t>
            </a:r>
            <a:endParaRPr lang="en-US" dirty="0"/>
          </a:p>
        </p:txBody>
      </p:sp>
    </p:spTree>
    <p:extLst>
      <p:ext uri="{BB962C8B-B14F-4D97-AF65-F5344CB8AC3E}">
        <p14:creationId xmlns:p14="http://schemas.microsoft.com/office/powerpoint/2010/main" val="17475055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608CE-E21B-2A47-FC28-B4FAE8BA8251}"/>
              </a:ext>
            </a:extLst>
          </p:cNvPr>
          <p:cNvSpPr>
            <a:spLocks noGrp="1"/>
          </p:cNvSpPr>
          <p:nvPr>
            <p:ph type="title"/>
          </p:nvPr>
        </p:nvSpPr>
        <p:spPr/>
        <p:txBody>
          <a:bodyPr/>
          <a:lstStyle/>
          <a:p>
            <a:r>
              <a:rPr lang="en-IN" dirty="0"/>
              <a:t>Solution </a:t>
            </a:r>
            <a:endParaRPr lang="en-US" dirty="0"/>
          </a:p>
        </p:txBody>
      </p:sp>
      <p:sp>
        <p:nvSpPr>
          <p:cNvPr id="5" name="Content Placeholder 4">
            <a:extLst>
              <a:ext uri="{FF2B5EF4-FFF2-40B4-BE49-F238E27FC236}">
                <a16:creationId xmlns:a16="http://schemas.microsoft.com/office/drawing/2014/main" id="{05665E7A-E601-7867-5B2C-A58DA427371C}"/>
              </a:ext>
            </a:extLst>
          </p:cNvPr>
          <p:cNvSpPr>
            <a:spLocks noGrp="1"/>
          </p:cNvSpPr>
          <p:nvPr>
            <p:ph idx="1"/>
          </p:nvPr>
        </p:nvSpPr>
        <p:spPr/>
        <p:txBody>
          <a:bodyPr/>
          <a:lstStyle/>
          <a:p>
            <a:r>
              <a:rPr lang="en-IN" dirty="0"/>
              <a:t>Develop a smart hospital management system
Enable online appointment booking
Predict wait time using machine learning model
Prioritize emergency patients
Provide admin control for managing system</a:t>
            </a:r>
            <a:endParaRPr lang="en-US" dirty="0"/>
          </a:p>
        </p:txBody>
      </p:sp>
    </p:spTree>
    <p:extLst>
      <p:ext uri="{BB962C8B-B14F-4D97-AF65-F5344CB8AC3E}">
        <p14:creationId xmlns:p14="http://schemas.microsoft.com/office/powerpoint/2010/main" val="21298291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0498E-BF07-447B-068B-8D48AB4994BE}"/>
              </a:ext>
            </a:extLst>
          </p:cNvPr>
          <p:cNvSpPr>
            <a:spLocks noGrp="1"/>
          </p:cNvSpPr>
          <p:nvPr>
            <p:ph type="title"/>
          </p:nvPr>
        </p:nvSpPr>
        <p:spPr/>
        <p:txBody>
          <a:bodyPr/>
          <a:lstStyle/>
          <a:p>
            <a:r>
              <a:rPr lang="en-IN" dirty="0"/>
              <a:t>Objective</a:t>
            </a:r>
            <a:endParaRPr lang="en-US" dirty="0"/>
          </a:p>
        </p:txBody>
      </p:sp>
      <p:sp>
        <p:nvSpPr>
          <p:cNvPr id="3" name="Content Placeholder 2">
            <a:extLst>
              <a:ext uri="{FF2B5EF4-FFF2-40B4-BE49-F238E27FC236}">
                <a16:creationId xmlns:a16="http://schemas.microsoft.com/office/drawing/2014/main" id="{8D776439-748E-E134-7AC4-534D083C4584}"/>
              </a:ext>
            </a:extLst>
          </p:cNvPr>
          <p:cNvSpPr>
            <a:spLocks noGrp="1"/>
          </p:cNvSpPr>
          <p:nvPr>
            <p:ph idx="1"/>
          </p:nvPr>
        </p:nvSpPr>
        <p:spPr/>
        <p:txBody>
          <a:bodyPr/>
          <a:lstStyle/>
          <a:p>
            <a:r>
              <a:rPr lang="en-IN" dirty="0"/>
              <a:t>Reduce patient waiting time
Improve hospital workflow
Provide accurate wait time prediction
Enhance user experience
Use data science for real-world problem solving</a:t>
            </a:r>
            <a:endParaRPr lang="en-US" dirty="0"/>
          </a:p>
        </p:txBody>
      </p:sp>
    </p:spTree>
    <p:extLst>
      <p:ext uri="{BB962C8B-B14F-4D97-AF65-F5344CB8AC3E}">
        <p14:creationId xmlns:p14="http://schemas.microsoft.com/office/powerpoint/2010/main" val="42462239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AAD60-4527-C382-6ADB-2BC490170984}"/>
              </a:ext>
            </a:extLst>
          </p:cNvPr>
          <p:cNvSpPr>
            <a:spLocks noGrp="1"/>
          </p:cNvSpPr>
          <p:nvPr>
            <p:ph type="title"/>
          </p:nvPr>
        </p:nvSpPr>
        <p:spPr/>
        <p:txBody>
          <a:bodyPr/>
          <a:lstStyle/>
          <a:p>
            <a:r>
              <a:rPr lang="en-IN" dirty="0"/>
              <a:t>Technologies Used</a:t>
            </a:r>
            <a:endParaRPr lang="en-US" dirty="0"/>
          </a:p>
        </p:txBody>
      </p:sp>
      <p:sp>
        <p:nvSpPr>
          <p:cNvPr id="5" name="Content Placeholder 4">
            <a:extLst>
              <a:ext uri="{FF2B5EF4-FFF2-40B4-BE49-F238E27FC236}">
                <a16:creationId xmlns:a16="http://schemas.microsoft.com/office/drawing/2014/main" id="{88CE1DEC-5611-C2F8-7135-BD83FF7C6720}"/>
              </a:ext>
            </a:extLst>
          </p:cNvPr>
          <p:cNvSpPr>
            <a:spLocks noGrp="1"/>
          </p:cNvSpPr>
          <p:nvPr>
            <p:ph idx="1"/>
          </p:nvPr>
        </p:nvSpPr>
        <p:spPr/>
        <p:txBody>
          <a:bodyPr/>
          <a:lstStyle/>
          <a:p>
            <a:r>
              <a:rPr lang="en-IN" dirty="0"/>
              <a:t>Python (Core Programming)
</a:t>
            </a:r>
            <a:r>
              <a:rPr lang="en-IN" dirty="0" err="1"/>
              <a:t>Streamlit</a:t>
            </a:r>
            <a:r>
              <a:rPr lang="en-IN" dirty="0"/>
              <a:t> (Frontend UI)
SQLite (Database)
Pandas &amp; </a:t>
            </a:r>
            <a:r>
              <a:rPr lang="en-IN" dirty="0" err="1"/>
              <a:t>NumPy</a:t>
            </a:r>
            <a:r>
              <a:rPr lang="en-IN" dirty="0"/>
              <a:t> (Data Processing)
</a:t>
            </a:r>
            <a:r>
              <a:rPr lang="en-IN" dirty="0" err="1"/>
              <a:t>Scikit</a:t>
            </a:r>
            <a:r>
              <a:rPr lang="en-IN" dirty="0"/>
              <a:t>-learn (Machine Learning)</a:t>
            </a:r>
            <a:endParaRPr lang="en-US" dirty="0"/>
          </a:p>
        </p:txBody>
      </p:sp>
    </p:spTree>
    <p:extLst>
      <p:ext uri="{BB962C8B-B14F-4D97-AF65-F5344CB8AC3E}">
        <p14:creationId xmlns:p14="http://schemas.microsoft.com/office/powerpoint/2010/main" val="22355523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0B1649-C02D-6C95-2934-D579EB711C3D}"/>
              </a:ext>
            </a:extLst>
          </p:cNvPr>
          <p:cNvSpPr>
            <a:spLocks noGrp="1"/>
          </p:cNvSpPr>
          <p:nvPr>
            <p:ph type="title"/>
          </p:nvPr>
        </p:nvSpPr>
        <p:spPr/>
        <p:txBody>
          <a:bodyPr/>
          <a:lstStyle/>
          <a:p>
            <a:r>
              <a:rPr lang="en-IN" dirty="0"/>
              <a:t>  System architecture </a:t>
            </a:r>
            <a:endParaRPr lang="en-US" dirty="0"/>
          </a:p>
        </p:txBody>
      </p:sp>
      <p:sp>
        <p:nvSpPr>
          <p:cNvPr id="5" name="Content Placeholder 4">
            <a:extLst>
              <a:ext uri="{FF2B5EF4-FFF2-40B4-BE49-F238E27FC236}">
                <a16:creationId xmlns:a16="http://schemas.microsoft.com/office/drawing/2014/main" id="{43B460C3-FFAA-E121-28C4-369706F52292}"/>
              </a:ext>
            </a:extLst>
          </p:cNvPr>
          <p:cNvSpPr>
            <a:spLocks noGrp="1"/>
          </p:cNvSpPr>
          <p:nvPr>
            <p:ph idx="1"/>
          </p:nvPr>
        </p:nvSpPr>
        <p:spPr/>
        <p:txBody>
          <a:bodyPr/>
          <a:lstStyle/>
          <a:p>
            <a:r>
              <a:rPr lang="en-IN" dirty="0"/>
              <a:t>Based on client-server model
User interacts through </a:t>
            </a:r>
            <a:r>
              <a:rPr lang="en-IN" dirty="0" err="1"/>
              <a:t>Streamlit</a:t>
            </a:r>
            <a:r>
              <a:rPr lang="en-IN" dirty="0"/>
              <a:t> interface
Backend processes requests using Python
SQLite database stores all records
ML model predicts wait time</a:t>
            </a:r>
            <a:endParaRPr lang="en-US" dirty="0"/>
          </a:p>
        </p:txBody>
      </p:sp>
    </p:spTree>
    <p:extLst>
      <p:ext uri="{BB962C8B-B14F-4D97-AF65-F5344CB8AC3E}">
        <p14:creationId xmlns:p14="http://schemas.microsoft.com/office/powerpoint/2010/main" val="37230969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2E411-BF86-5905-57C0-3C9D11C44018}"/>
              </a:ext>
            </a:extLst>
          </p:cNvPr>
          <p:cNvSpPr>
            <a:spLocks noGrp="1"/>
          </p:cNvSpPr>
          <p:nvPr>
            <p:ph type="title"/>
          </p:nvPr>
        </p:nvSpPr>
        <p:spPr/>
        <p:txBody>
          <a:bodyPr/>
          <a:lstStyle/>
          <a:p>
            <a:r>
              <a:rPr lang="en-IN" dirty="0"/>
              <a:t>Modules</a:t>
            </a:r>
            <a:endParaRPr lang="en-US" dirty="0"/>
          </a:p>
        </p:txBody>
      </p:sp>
      <p:sp>
        <p:nvSpPr>
          <p:cNvPr id="3" name="Content Placeholder 2">
            <a:extLst>
              <a:ext uri="{FF2B5EF4-FFF2-40B4-BE49-F238E27FC236}">
                <a16:creationId xmlns:a16="http://schemas.microsoft.com/office/drawing/2014/main" id="{53376218-BF80-718D-6E4F-3E0D57B5C1CC}"/>
              </a:ext>
            </a:extLst>
          </p:cNvPr>
          <p:cNvSpPr>
            <a:spLocks noGrp="1"/>
          </p:cNvSpPr>
          <p:nvPr>
            <p:ph idx="1"/>
          </p:nvPr>
        </p:nvSpPr>
        <p:spPr/>
        <p:txBody>
          <a:bodyPr/>
          <a:lstStyle/>
          <a:p>
            <a:r>
              <a:rPr lang="en-IN" dirty="0"/>
              <a:t>User Authentication Module
Patient Module
Admin Module
Appointment Management Module
Wait Time Prediction Module
Data Analysis &amp; Visualization Module
Database Management Module</a:t>
            </a:r>
            <a:endParaRPr lang="en-US" dirty="0"/>
          </a:p>
        </p:txBody>
      </p:sp>
    </p:spTree>
    <p:extLst>
      <p:ext uri="{BB962C8B-B14F-4D97-AF65-F5344CB8AC3E}">
        <p14:creationId xmlns:p14="http://schemas.microsoft.com/office/powerpoint/2010/main" val="4668109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24AED-354C-36CF-A86B-A73F74ED6640}"/>
              </a:ext>
            </a:extLst>
          </p:cNvPr>
          <p:cNvSpPr>
            <a:spLocks noGrp="1"/>
          </p:cNvSpPr>
          <p:nvPr>
            <p:ph type="title"/>
          </p:nvPr>
        </p:nvSpPr>
        <p:spPr/>
        <p:txBody>
          <a:bodyPr/>
          <a:lstStyle/>
          <a:p>
            <a:r>
              <a:rPr lang="en-IN" dirty="0"/>
              <a:t>Working flow </a:t>
            </a:r>
            <a:endParaRPr lang="en-US" dirty="0"/>
          </a:p>
        </p:txBody>
      </p:sp>
      <p:sp>
        <p:nvSpPr>
          <p:cNvPr id="3" name="Content Placeholder 2">
            <a:extLst>
              <a:ext uri="{FF2B5EF4-FFF2-40B4-BE49-F238E27FC236}">
                <a16:creationId xmlns:a16="http://schemas.microsoft.com/office/drawing/2014/main" id="{E5A72D6A-ECF0-31F3-B127-38F4F00B6B51}"/>
              </a:ext>
            </a:extLst>
          </p:cNvPr>
          <p:cNvSpPr>
            <a:spLocks noGrp="1"/>
          </p:cNvSpPr>
          <p:nvPr>
            <p:ph idx="1"/>
          </p:nvPr>
        </p:nvSpPr>
        <p:spPr>
          <a:xfrm>
            <a:off x="1451579" y="2173088"/>
            <a:ext cx="4084404" cy="4089705"/>
          </a:xfrm>
        </p:spPr>
        <p:txBody>
          <a:bodyPr>
            <a:noAutofit/>
          </a:bodyPr>
          <a:lstStyle/>
          <a:p>
            <a:r>
              <a:rPr lang="en-IN" sz="1800" dirty="0"/>
              <a:t>User registers and logs into the system
System verifies credentials and assigns role
Patient selects department and doctor
Patient books appointment with priority (Normal/Emergency)
System calculates estimated wait time based on queue</a:t>
            </a:r>
            <a:endParaRPr lang="en-US" sz="1800" dirty="0"/>
          </a:p>
        </p:txBody>
      </p:sp>
      <p:sp>
        <p:nvSpPr>
          <p:cNvPr id="4" name="TextBox 3">
            <a:extLst>
              <a:ext uri="{FF2B5EF4-FFF2-40B4-BE49-F238E27FC236}">
                <a16:creationId xmlns:a16="http://schemas.microsoft.com/office/drawing/2014/main" id="{403F85D2-4B16-6F52-E7F1-0A21E9DA13BB}"/>
              </a:ext>
            </a:extLst>
          </p:cNvPr>
          <p:cNvSpPr txBox="1"/>
          <p:nvPr/>
        </p:nvSpPr>
        <p:spPr>
          <a:xfrm>
            <a:off x="6973859" y="2173088"/>
            <a:ext cx="3671047" cy="3139321"/>
          </a:xfrm>
          <a:prstGeom prst="rect">
            <a:avLst/>
          </a:prstGeom>
          <a:noFill/>
        </p:spPr>
        <p:txBody>
          <a:bodyPr wrap="square" rtlCol="0">
            <a:spAutoFit/>
          </a:bodyPr>
          <a:lstStyle/>
          <a:p>
            <a:pPr marL="285750" indent="-285750" algn="l">
              <a:buFont typeface="Arial" panose="020B0604020202020204" pitchFamily="34" charset="0"/>
              <a:buChar char="•"/>
            </a:pPr>
            <a:r>
              <a:rPr lang="en-IN" dirty="0"/>
              <a:t>System successfully manages hospital appointments</a:t>
            </a:r>
          </a:p>
          <a:p>
            <a:pPr algn="l"/>
            <a:endParaRPr lang="en-IN" dirty="0"/>
          </a:p>
          <a:p>
            <a:pPr marL="285750" indent="-285750" algn="l">
              <a:buFont typeface="Arial" panose="020B0604020202020204" pitchFamily="34" charset="0"/>
              <a:buChar char="•"/>
            </a:pPr>
            <a:r>
              <a:rPr lang="en-IN" dirty="0"/>
              <a:t>Wait time prediction improves patient experience</a:t>
            </a:r>
          </a:p>
          <a:p>
            <a:pPr marL="285750" indent="-285750" algn="l">
              <a:buFont typeface="Arial" panose="020B0604020202020204" pitchFamily="34" charset="0"/>
              <a:buChar char="•"/>
            </a:pPr>
            <a:endParaRPr lang="en-IN" dirty="0"/>
          </a:p>
          <a:p>
            <a:pPr marL="285750" indent="-285750" algn="l">
              <a:buFont typeface="Arial" panose="020B0604020202020204" pitchFamily="34" charset="0"/>
              <a:buChar char="•"/>
            </a:pPr>
            <a:r>
              <a:rPr lang="en-IN" dirty="0"/>
              <a:t>Useful for real-world hospital applications</a:t>
            </a:r>
          </a:p>
          <a:p>
            <a:pPr marL="285750" indent="-285750" algn="l">
              <a:buFont typeface="Arial" panose="020B0604020202020204" pitchFamily="34" charset="0"/>
              <a:buChar char="•"/>
            </a:pPr>
            <a:endParaRPr lang="en-IN" dirty="0"/>
          </a:p>
          <a:p>
            <a:pPr marL="285750" indent="-285750" algn="l">
              <a:buFont typeface="Arial" panose="020B0604020202020204" pitchFamily="34" charset="0"/>
              <a:buChar char="•"/>
            </a:pPr>
            <a:r>
              <a:rPr lang="en-IN" dirty="0"/>
              <a:t>Combines data science with practical implementation</a:t>
            </a:r>
            <a:endParaRPr lang="en-US" dirty="0"/>
          </a:p>
        </p:txBody>
      </p:sp>
    </p:spTree>
    <p:extLst>
      <p:ext uri="{BB962C8B-B14F-4D97-AF65-F5344CB8AC3E}">
        <p14:creationId xmlns:p14="http://schemas.microsoft.com/office/powerpoint/2010/main" val="545635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EA978-60F6-686F-8796-9A35D6BB7706}"/>
              </a:ext>
            </a:extLst>
          </p:cNvPr>
          <p:cNvSpPr>
            <a:spLocks noGrp="1"/>
          </p:cNvSpPr>
          <p:nvPr>
            <p:ph type="title"/>
          </p:nvPr>
        </p:nvSpPr>
        <p:spPr/>
        <p:txBody>
          <a:bodyPr/>
          <a:lstStyle/>
          <a:p>
            <a:r>
              <a:rPr lang="en-IN" dirty="0"/>
              <a:t>Key features </a:t>
            </a:r>
            <a:endParaRPr lang="en-US" dirty="0"/>
          </a:p>
        </p:txBody>
      </p:sp>
      <p:sp>
        <p:nvSpPr>
          <p:cNvPr id="3" name="Content Placeholder 2">
            <a:extLst>
              <a:ext uri="{FF2B5EF4-FFF2-40B4-BE49-F238E27FC236}">
                <a16:creationId xmlns:a16="http://schemas.microsoft.com/office/drawing/2014/main" id="{B1937F58-0AF3-0EDD-46E6-638DC40C14DD}"/>
              </a:ext>
            </a:extLst>
          </p:cNvPr>
          <p:cNvSpPr>
            <a:spLocks noGrp="1"/>
          </p:cNvSpPr>
          <p:nvPr>
            <p:ph idx="1"/>
          </p:nvPr>
        </p:nvSpPr>
        <p:spPr/>
        <p:txBody>
          <a:bodyPr/>
          <a:lstStyle/>
          <a:p>
            <a:r>
              <a:rPr lang="en-IN" dirty="0"/>
              <a:t>Secure login and registration
Appointment booking system
Emergency priority handling
Wait time prediction using ML
Admin dashboard for control
Data visualization (charts &amp; analysis)</a:t>
            </a:r>
            <a:endParaRPr lang="en-US" dirty="0"/>
          </a:p>
        </p:txBody>
      </p:sp>
    </p:spTree>
    <p:extLst>
      <p:ext uri="{BB962C8B-B14F-4D97-AF65-F5344CB8AC3E}">
        <p14:creationId xmlns:p14="http://schemas.microsoft.com/office/powerpoint/2010/main" val="4305586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0F7EE-4253-9E4C-1095-3B8C7BFE1AEA}"/>
              </a:ext>
            </a:extLst>
          </p:cNvPr>
          <p:cNvSpPr>
            <a:spLocks noGrp="1"/>
          </p:cNvSpPr>
          <p:nvPr>
            <p:ph type="title"/>
          </p:nvPr>
        </p:nvSpPr>
        <p:spPr/>
        <p:txBody>
          <a:bodyPr/>
          <a:lstStyle/>
          <a:p>
            <a:r>
              <a:rPr lang="en-IN" dirty="0"/>
              <a:t>Advantages </a:t>
            </a:r>
            <a:endParaRPr lang="en-US" dirty="0"/>
          </a:p>
        </p:txBody>
      </p:sp>
      <p:sp>
        <p:nvSpPr>
          <p:cNvPr id="3" name="Content Placeholder 2">
            <a:extLst>
              <a:ext uri="{FF2B5EF4-FFF2-40B4-BE49-F238E27FC236}">
                <a16:creationId xmlns:a16="http://schemas.microsoft.com/office/drawing/2014/main" id="{B2765C3D-EC95-20A9-B7B4-4FDB9A562E8B}"/>
              </a:ext>
            </a:extLst>
          </p:cNvPr>
          <p:cNvSpPr>
            <a:spLocks noGrp="1"/>
          </p:cNvSpPr>
          <p:nvPr>
            <p:ph idx="1"/>
          </p:nvPr>
        </p:nvSpPr>
        <p:spPr/>
        <p:txBody>
          <a:bodyPr/>
          <a:lstStyle/>
          <a:p>
            <a:r>
              <a:rPr lang="en-IN" dirty="0"/>
              <a:t>Saves time for patients
Reduces overcrowding
Improves hospital efficiency
Easy to use interface
Data-driven decision making</a:t>
            </a:r>
            <a:endParaRPr lang="en-US" dirty="0"/>
          </a:p>
        </p:txBody>
      </p:sp>
    </p:spTree>
    <p:extLst>
      <p:ext uri="{BB962C8B-B14F-4D97-AF65-F5344CB8AC3E}">
        <p14:creationId xmlns:p14="http://schemas.microsoft.com/office/powerpoint/2010/main" val="32442577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1A850-FD01-056D-B0B7-2B96C36AC519}"/>
              </a:ext>
            </a:extLst>
          </p:cNvPr>
          <p:cNvSpPr>
            <a:spLocks noGrp="1"/>
          </p:cNvSpPr>
          <p:nvPr>
            <p:ph type="title"/>
          </p:nvPr>
        </p:nvSpPr>
        <p:spPr/>
        <p:txBody>
          <a:bodyPr/>
          <a:lstStyle/>
          <a:p>
            <a:r>
              <a:rPr lang="en-IN" dirty="0"/>
              <a:t>Future scope </a:t>
            </a:r>
            <a:endParaRPr lang="en-US" dirty="0"/>
          </a:p>
        </p:txBody>
      </p:sp>
      <p:sp>
        <p:nvSpPr>
          <p:cNvPr id="3" name="Content Placeholder 2">
            <a:extLst>
              <a:ext uri="{FF2B5EF4-FFF2-40B4-BE49-F238E27FC236}">
                <a16:creationId xmlns:a16="http://schemas.microsoft.com/office/drawing/2014/main" id="{DEB1B249-08B6-43FE-9041-AF1DD345A76A}"/>
              </a:ext>
            </a:extLst>
          </p:cNvPr>
          <p:cNvSpPr>
            <a:spLocks noGrp="1"/>
          </p:cNvSpPr>
          <p:nvPr>
            <p:ph idx="1"/>
          </p:nvPr>
        </p:nvSpPr>
        <p:spPr/>
        <p:txBody>
          <a:bodyPr/>
          <a:lstStyle/>
          <a:p>
            <a:r>
              <a:rPr lang="en-IN" dirty="0"/>
              <a:t>Real-time data integration
Advanced AI models for better prediction
Mobile application support
Online doctor consultation feature
Notification system for patients</a:t>
            </a:r>
            <a:endParaRPr lang="en-US" dirty="0"/>
          </a:p>
        </p:txBody>
      </p:sp>
    </p:spTree>
    <p:extLst>
      <p:ext uri="{BB962C8B-B14F-4D97-AF65-F5344CB8AC3E}">
        <p14:creationId xmlns:p14="http://schemas.microsoft.com/office/powerpoint/2010/main" val="35552682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D1CC1-9595-0280-3E83-776002C76A59}"/>
              </a:ext>
            </a:extLst>
          </p:cNvPr>
          <p:cNvSpPr>
            <a:spLocks noGrp="1"/>
          </p:cNvSpPr>
          <p:nvPr>
            <p:ph type="title"/>
          </p:nvPr>
        </p:nvSpPr>
        <p:spPr/>
        <p:txBody>
          <a:bodyPr/>
          <a:lstStyle/>
          <a:p>
            <a:r>
              <a:rPr lang="en-IN" dirty="0"/>
              <a:t>Conclusion:-</a:t>
            </a:r>
            <a:endParaRPr lang="en-US" dirty="0"/>
          </a:p>
        </p:txBody>
      </p:sp>
      <p:sp>
        <p:nvSpPr>
          <p:cNvPr id="3" name="Content Placeholder 2">
            <a:extLst>
              <a:ext uri="{FF2B5EF4-FFF2-40B4-BE49-F238E27FC236}">
                <a16:creationId xmlns:a16="http://schemas.microsoft.com/office/drawing/2014/main" id="{F3054079-A225-442E-FE47-BD53872AEA77}"/>
              </a:ext>
            </a:extLst>
          </p:cNvPr>
          <p:cNvSpPr>
            <a:spLocks noGrp="1"/>
          </p:cNvSpPr>
          <p:nvPr>
            <p:ph idx="1"/>
          </p:nvPr>
        </p:nvSpPr>
        <p:spPr/>
        <p:txBody>
          <a:bodyPr>
            <a:normAutofit/>
          </a:bodyPr>
          <a:lstStyle/>
          <a:p>
            <a:r>
              <a:rPr lang="en-IN" dirty="0"/>
              <a:t>System successfully manages hospital appointments
Wait time prediction improves patient experience
Useful for real-world hospital applications
Combines data science with practical implementation</a:t>
            </a:r>
            <a:endParaRPr lang="en-US" dirty="0"/>
          </a:p>
        </p:txBody>
      </p:sp>
    </p:spTree>
    <p:extLst>
      <p:ext uri="{BB962C8B-B14F-4D97-AF65-F5344CB8AC3E}">
        <p14:creationId xmlns:p14="http://schemas.microsoft.com/office/powerpoint/2010/main" val="2351880418"/>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13</Slides>
  <Notes>0</Notes>
  <HiddenSlides>0</HiddenSlide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Gallery</vt:lpstr>
      <vt:lpstr>Hospital appointments &amp; Wait time  prediction system </vt:lpstr>
      <vt:lpstr>Introduction:-</vt:lpstr>
      <vt:lpstr>Problem Statement:-</vt:lpstr>
      <vt:lpstr>Solution </vt:lpstr>
      <vt:lpstr>Objective</vt:lpstr>
      <vt:lpstr>Technologies Used</vt:lpstr>
      <vt:lpstr>  System architecture </vt:lpstr>
      <vt:lpstr>Modules</vt:lpstr>
      <vt:lpstr>Working flow </vt:lpstr>
      <vt:lpstr>Key features </vt:lpstr>
      <vt:lpstr>Advantages </vt:lpstr>
      <vt:lpstr>Future scope </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 attack prediction system </dc:title>
  <dc:creator>Alka Kushwaha</dc:creator>
  <cp:lastModifiedBy>Alka Kushwaha</cp:lastModifiedBy>
  <cp:revision>14</cp:revision>
  <dcterms:created xsi:type="dcterms:W3CDTF">2025-10-25T07:24:02Z</dcterms:created>
  <dcterms:modified xsi:type="dcterms:W3CDTF">2026-05-01T14:28:53Z</dcterms:modified>
</cp:coreProperties>
</file>